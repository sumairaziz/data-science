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bc.com/new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C341-3A43-FD41-30BD-869378E5C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2654807"/>
          </a:xfrm>
        </p:spPr>
        <p:txBody>
          <a:bodyPr>
            <a:normAutofit/>
          </a:bodyPr>
          <a:lstStyle/>
          <a:p>
            <a:r>
              <a:rPr lang="en-US" sz="7200" dirty="0"/>
              <a:t>Mining the Web: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F45DE-A699-99F7-79DF-9DFBC7374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264408"/>
            <a:ext cx="8676222" cy="603504"/>
          </a:xfrm>
        </p:spPr>
        <p:txBody>
          <a:bodyPr>
            <a:normAutofit/>
          </a:bodyPr>
          <a:lstStyle/>
          <a:p>
            <a:r>
              <a:rPr lang="en-US" sz="2800" dirty="0"/>
              <a:t>A Beginner’s Guide to Web Scraping</a:t>
            </a:r>
          </a:p>
        </p:txBody>
      </p:sp>
    </p:spTree>
    <p:extLst>
      <p:ext uri="{BB962C8B-B14F-4D97-AF65-F5344CB8AC3E}">
        <p14:creationId xmlns:p14="http://schemas.microsoft.com/office/powerpoint/2010/main" val="51243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41E4-CB32-E5C7-6006-82535D3B6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356360"/>
          </a:xfrm>
        </p:spPr>
        <p:txBody>
          <a:bodyPr/>
          <a:lstStyle/>
          <a:p>
            <a:r>
              <a:rPr lang="en-US" dirty="0"/>
              <a:t>What is Web Scraping?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539746-6FFA-4BE3-B5AE-9C606E020E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985165"/>
            <a:ext cx="6622326" cy="128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📄 Collecting data from websites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Done using code instead of manual copy-paste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🛠️ Useful for news, product prices, blogs, research, and more</a:t>
            </a:r>
          </a:p>
        </p:txBody>
      </p:sp>
    </p:spTree>
    <p:extLst>
      <p:ext uri="{BB962C8B-B14F-4D97-AF65-F5344CB8AC3E}">
        <p14:creationId xmlns:p14="http://schemas.microsoft.com/office/powerpoint/2010/main" val="1398017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944D-A120-6489-09EA-A8F86854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Web Scraping Legal?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BEAF66-4E65-1184-E91B-891555F04F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426640"/>
            <a:ext cx="7699544" cy="170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Public data is usually fine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🚫 Don’t scrape behind login walls or APIs without permission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Always check site’s robots.txt file e. https://en.wikipedia.org/robots.txt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Be respectful (don’t overload websites)</a:t>
            </a:r>
          </a:p>
        </p:txBody>
      </p:sp>
    </p:spTree>
    <p:extLst>
      <p:ext uri="{BB962C8B-B14F-4D97-AF65-F5344CB8AC3E}">
        <p14:creationId xmlns:p14="http://schemas.microsoft.com/office/powerpoint/2010/main" val="370768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27E5-C9D9-613E-C1F8-6DFF3B9E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35736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tools and libraries for data science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8148B3-7844-79B0-8755-DBA82A891A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3350719"/>
              </p:ext>
            </p:extLst>
          </p:nvPr>
        </p:nvGraphicFramePr>
        <p:xfrm>
          <a:off x="1143000" y="2127504"/>
          <a:ext cx="9906000" cy="3134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84243550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508409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Tool/Library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Fetch webpage 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084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BeautifulSoup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Parse HTML and extract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5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 and clean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85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Selenium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Automating web browsers to do a number of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5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extracting the data you need from websites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367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Regex to match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00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04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4395-C118-A874-94C9-6B9875A3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Web Scraping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C5C594-0EDE-AA26-07B7-2DD89A7B0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843987"/>
            <a:ext cx="4057521" cy="211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Pick a website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📥 Use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requests.get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download the page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📑 Parse HTML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Extract tags and attributes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Save to CSV using pandas</a:t>
            </a:r>
          </a:p>
        </p:txBody>
      </p:sp>
    </p:spTree>
    <p:extLst>
      <p:ext uri="{BB962C8B-B14F-4D97-AF65-F5344CB8AC3E}">
        <p14:creationId xmlns:p14="http://schemas.microsoft.com/office/powerpoint/2010/main" val="161406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14C7-9195-DB7A-DF46-58D89397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Can Scrape?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D248A5-B0DB-79D2-D177-AF60252F44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064968"/>
            <a:ext cx="4083169" cy="211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📰 News headlines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Amazon product prices (carefully)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🎓 Course info from websites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📈 Crypto prices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📅 Event listings</a:t>
            </a:r>
          </a:p>
        </p:txBody>
      </p:sp>
    </p:spTree>
    <p:extLst>
      <p:ext uri="{BB962C8B-B14F-4D97-AF65-F5344CB8AC3E}">
        <p14:creationId xmlns:p14="http://schemas.microsoft.com/office/powerpoint/2010/main" val="138085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89C2-47F1-A862-36C4-E3F299D94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Web Scraping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5EAE64-5AF7-CCA5-01A5-E545018DA1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272685"/>
            <a:ext cx="4573753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websites (need Selenium or API)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rendering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 limits or blocks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 structure can change</a:t>
            </a:r>
          </a:p>
        </p:txBody>
      </p:sp>
    </p:spTree>
    <p:extLst>
      <p:ext uri="{BB962C8B-B14F-4D97-AF65-F5344CB8AC3E}">
        <p14:creationId xmlns:p14="http://schemas.microsoft.com/office/powerpoint/2010/main" val="1929397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868A-F60B-1FB6-DCF0-DB1722BA6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F8D550-969B-97CE-BDE3-D99FA67C2D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272717"/>
            <a:ext cx="4942379" cy="1702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Respect robots.txt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Add delays between requests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time.sleep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Use headers to mimic a browser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Handle errors gracefully</a:t>
            </a:r>
          </a:p>
        </p:txBody>
      </p:sp>
    </p:spTree>
    <p:extLst>
      <p:ext uri="{BB962C8B-B14F-4D97-AF65-F5344CB8AC3E}">
        <p14:creationId xmlns:p14="http://schemas.microsoft.com/office/powerpoint/2010/main" val="391391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27461-B74D-2D44-7BB6-72A34D46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🎓 </a:t>
            </a:r>
            <a:r>
              <a:rPr lang="en-US" b="1" dirty="0"/>
              <a:t>Mini Project Idea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0D292-96ED-686C-FC67-52A0845E3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06879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Scrape headlines from </a:t>
            </a:r>
            <a:r>
              <a:rPr lang="en-US" dirty="0">
                <a:hlinkClick r:id="rId2"/>
              </a:rPr>
              <a:t>https://www.bbc.com/news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✅ Get article titles</a:t>
            </a:r>
            <a:br>
              <a:rPr lang="en-US" dirty="0"/>
            </a:br>
            <a:r>
              <a:rPr lang="en-US" dirty="0"/>
              <a:t>✅ Get article links</a:t>
            </a:r>
            <a:br>
              <a:rPr lang="en-US" dirty="0"/>
            </a:br>
            <a:r>
              <a:rPr lang="en-US" dirty="0"/>
              <a:t>✅ Save to CSV</a:t>
            </a:r>
            <a:br>
              <a:rPr lang="en-US" dirty="0"/>
            </a:br>
            <a:r>
              <a:rPr lang="en-US" dirty="0"/>
              <a:t>✅ (Optional) Schedule daily scraping with </a:t>
            </a:r>
            <a:r>
              <a:rPr lang="en-US" dirty="0" err="1"/>
              <a:t>cron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7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046A-CE72-835A-245B-380AE640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Web Scraping Ethics: What’s Allowed?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E67A3F-DF91-0DA2-397B-E5C868AD87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374391"/>
            <a:ext cx="9905998" cy="312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Scrape only public data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If you can see it without logging in, it’s generally okay.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Respect robots.txt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This file tells you what bots can/cannot access on a 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proxies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IP addresses used to avoid getting blocked or rate-limited. Proxy rotation is common in large scraping jobs.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user-agent headers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Identify your bot politely – don’t pretend to be a browser by default.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Throttle requests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Add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sleep()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requests to avoid overloading the server.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 attribution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If you’re using data from someone’s site, cite the source where possible.</a:t>
            </a:r>
          </a:p>
        </p:txBody>
      </p:sp>
    </p:spTree>
    <p:extLst>
      <p:ext uri="{BB962C8B-B14F-4D97-AF65-F5344CB8AC3E}">
        <p14:creationId xmlns:p14="http://schemas.microsoft.com/office/powerpoint/2010/main" val="129289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C501-108A-2CC1-23D5-74E2C178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👑 </a:t>
            </a:r>
            <a:r>
              <a:rPr lang="en-US" b="1" dirty="0"/>
              <a:t>What You Should Avoid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0C457-17DD-E1F9-C1FC-362DA3783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❌ </a:t>
            </a:r>
            <a:r>
              <a:rPr lang="en-US" b="1" dirty="0"/>
              <a:t>Scraping behind logins or paywalls</a:t>
            </a:r>
            <a:br>
              <a:rPr lang="en-US" dirty="0"/>
            </a:br>
            <a:r>
              <a:rPr lang="en-US" dirty="0"/>
              <a:t>• This often violates terms of service or privacy policies.</a:t>
            </a:r>
          </a:p>
          <a:p>
            <a:r>
              <a:rPr lang="en-US" dirty="0"/>
              <a:t>❌ </a:t>
            </a:r>
            <a:r>
              <a:rPr lang="en-US" b="1" dirty="0"/>
              <a:t>Scraping APIs without permission</a:t>
            </a:r>
            <a:br>
              <a:rPr lang="en-US" dirty="0"/>
            </a:br>
            <a:r>
              <a:rPr lang="en-US" dirty="0"/>
              <a:t>• Some APIs are paid or rate-limited; use official ones if provided.</a:t>
            </a:r>
          </a:p>
          <a:p>
            <a:r>
              <a:rPr lang="en-US" dirty="0"/>
              <a:t>❌ </a:t>
            </a:r>
            <a:r>
              <a:rPr lang="en-US" b="1" dirty="0"/>
              <a:t>Heavy scraping / DDoS-like behavior</a:t>
            </a:r>
            <a:br>
              <a:rPr lang="en-US" dirty="0"/>
            </a:br>
            <a:r>
              <a:rPr lang="en-US" dirty="0"/>
              <a:t>• Never hammer a server with thousands of requests per minute.</a:t>
            </a:r>
          </a:p>
          <a:p>
            <a:r>
              <a:rPr lang="en-US" dirty="0"/>
              <a:t>❌ </a:t>
            </a:r>
            <a:r>
              <a:rPr lang="en-US" b="1" dirty="0"/>
              <a:t>Storing or selling scraped data without consent</a:t>
            </a:r>
            <a:br>
              <a:rPr lang="en-US" dirty="0"/>
            </a:br>
            <a:r>
              <a:rPr lang="en-US" dirty="0"/>
              <a:t>• Especially for sensitive info (emails, personal data).</a:t>
            </a:r>
          </a:p>
          <a:p>
            <a:r>
              <a:rPr lang="en-US" dirty="0"/>
              <a:t>❌ </a:t>
            </a:r>
            <a:r>
              <a:rPr lang="en-US" b="1" dirty="0"/>
              <a:t>Ignoring legal terms of use</a:t>
            </a:r>
            <a:br>
              <a:rPr lang="en-US" dirty="0"/>
            </a:br>
            <a:r>
              <a:rPr lang="en-US" dirty="0"/>
              <a:t>• Every website has a terms and conditions page, please read it!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33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A175-DEDD-3FB3-DC7A-9CA8D5DD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Web Scraping Key Terms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D4D00-95A1-73FD-F06E-92BE108EE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59991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HTML 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HyperText</a:t>
            </a:r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 Markup Language)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• The structure of every webpage. Scraping = finding data inside→ HTML tags like &lt;h1&gt;, &lt;div&gt;, &lt;a&gt;, etc.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51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F4BA2-CF55-9F61-1303-724DC182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Web Scraping Key Terms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EA214-C47B-AD94-FA9B-BCF4DA24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98319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USER AGENT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A header that tells the website what browser you are using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Websites may block bots with unknown user-agents, so scrappers fake being a browser(like chrome).</a:t>
            </a:r>
          </a:p>
        </p:txBody>
      </p:sp>
    </p:spTree>
    <p:extLst>
      <p:ext uri="{BB962C8B-B14F-4D97-AF65-F5344CB8AC3E}">
        <p14:creationId xmlns:p14="http://schemas.microsoft.com/office/powerpoint/2010/main" val="160411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2627-4AFD-B888-3C44-8256FA1D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Api(application programming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ABE9B-6A29-E7F4-422F-942D1BD53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79447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Some websites offer official APIs.</a:t>
            </a:r>
          </a:p>
          <a:p>
            <a:pPr>
              <a:lnSpc>
                <a:spcPct val="150000"/>
              </a:lnSpc>
            </a:pPr>
            <a:r>
              <a:rPr lang="en-US" dirty="0"/>
              <a:t>Always use these instead of scrapping if available and allowed.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World Bank API, </a:t>
            </a:r>
            <a:r>
              <a:rPr lang="en-US" dirty="0" err="1"/>
              <a:t>EUROstat</a:t>
            </a:r>
            <a:r>
              <a:rPr lang="en-US" dirty="0"/>
              <a:t> API.</a:t>
            </a:r>
          </a:p>
        </p:txBody>
      </p:sp>
    </p:spTree>
    <p:extLst>
      <p:ext uri="{BB962C8B-B14F-4D97-AF65-F5344CB8AC3E}">
        <p14:creationId xmlns:p14="http://schemas.microsoft.com/office/powerpoint/2010/main" val="2944008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222C-4A01-829D-58D1-4D18DCDF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DFB3E-9E36-3ABC-D5E6-4DC5DAFF1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62100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Websites split content across pages (Next, Page 2,etc.).</a:t>
            </a:r>
          </a:p>
          <a:p>
            <a:pPr>
              <a:lnSpc>
                <a:spcPct val="150000"/>
              </a:lnSpc>
            </a:pPr>
            <a:r>
              <a:rPr lang="en-US" dirty="0"/>
              <a:t>Scrappers loop through page numbers or “Next” buttons to collect everything. </a:t>
            </a:r>
          </a:p>
        </p:txBody>
      </p:sp>
    </p:spTree>
    <p:extLst>
      <p:ext uri="{BB962C8B-B14F-4D97-AF65-F5344CB8AC3E}">
        <p14:creationId xmlns:p14="http://schemas.microsoft.com/office/powerpoint/2010/main" val="2660090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4A4B-E117-DBD6-205B-D4FB1F5C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Captcha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EBD0-A5BE-C36E-B3A1-B76180C80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79447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test to block bots(“I’m not a robot”).</a:t>
            </a:r>
          </a:p>
          <a:p>
            <a:pPr>
              <a:lnSpc>
                <a:spcPct val="150000"/>
              </a:lnSpc>
            </a:pPr>
            <a:r>
              <a:rPr lang="en-US" dirty="0"/>
              <a:t>Avoid or bypass with paid services or workarounds. Difficult to handle in most scrapping projects.</a:t>
            </a:r>
          </a:p>
        </p:txBody>
      </p:sp>
    </p:spTree>
    <p:extLst>
      <p:ext uri="{BB962C8B-B14F-4D97-AF65-F5344CB8AC3E}">
        <p14:creationId xmlns:p14="http://schemas.microsoft.com/office/powerpoint/2010/main" val="2139369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1F8F-22F9-781F-191A-EC982115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1787A-044F-011F-212E-9101494B0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139951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persistent connection to a website using </a:t>
            </a:r>
            <a:r>
              <a:rPr lang="en-US" dirty="0" err="1"/>
              <a:t>requests.session</a:t>
            </a:r>
            <a:r>
              <a:rPr lang="en-US" dirty="0"/>
              <a:t>() useful when scrapping across multiple pages.</a:t>
            </a:r>
          </a:p>
        </p:txBody>
      </p:sp>
    </p:spTree>
    <p:extLst>
      <p:ext uri="{BB962C8B-B14F-4D97-AF65-F5344CB8AC3E}">
        <p14:creationId xmlns:p14="http://schemas.microsoft.com/office/powerpoint/2010/main" val="2604812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9948-70B6-A5B1-CDF7-5744E6A1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Headless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FC112-F673-94B9-8B3F-7CA12B621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19200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browser that runs without a GUI (e.g., headless Chrome).  Used in scraping to save resources.</a:t>
            </a:r>
          </a:p>
        </p:txBody>
      </p:sp>
    </p:spTree>
    <p:extLst>
      <p:ext uri="{BB962C8B-B14F-4D97-AF65-F5344CB8AC3E}">
        <p14:creationId xmlns:p14="http://schemas.microsoft.com/office/powerpoint/2010/main" val="1513288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BC50-6DDA-C090-B719-0EA75333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24E9-1D7D-E64E-EACC-AEED037C4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96567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IP addresses used to avoid getting blocked or rate-limited.</a:t>
            </a:r>
          </a:p>
          <a:p>
            <a:pPr>
              <a:lnSpc>
                <a:spcPct val="150000"/>
              </a:lnSpc>
            </a:pPr>
            <a:r>
              <a:rPr lang="en-US" dirty="0"/>
              <a:t>Proxy rotation is common in large scrapping jobs.</a:t>
            </a:r>
          </a:p>
        </p:txBody>
      </p:sp>
    </p:spTree>
    <p:extLst>
      <p:ext uri="{BB962C8B-B14F-4D97-AF65-F5344CB8AC3E}">
        <p14:creationId xmlns:p14="http://schemas.microsoft.com/office/powerpoint/2010/main" val="3197462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D859-A26D-1EA2-CBD5-1424A438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Status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62585-100B-C943-FF00-4594C4818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62911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server’s response to your request.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200 OK=Success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403 Forbidden = blocked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404 = not found</a:t>
            </a:r>
          </a:p>
        </p:txBody>
      </p:sp>
    </p:spTree>
    <p:extLst>
      <p:ext uri="{BB962C8B-B14F-4D97-AF65-F5344CB8AC3E}">
        <p14:creationId xmlns:p14="http://schemas.microsoft.com/office/powerpoint/2010/main" val="382833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F13C-B9EA-2E3D-7FCC-1BE97EC1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8C91B-EB6D-7C21-7CCF-8FA0F4546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61159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Rules to select elements from HTML by class, ID, tag, etc.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E.g.m</a:t>
            </a:r>
            <a:r>
              <a:rPr lang="en-US" dirty="0"/>
              <a:t> </a:t>
            </a:r>
            <a:r>
              <a:rPr lang="en-US" dirty="0" err="1"/>
              <a:t>div.title</a:t>
            </a:r>
            <a:r>
              <a:rPr lang="en-US" dirty="0"/>
              <a:t>, a[</a:t>
            </a:r>
            <a:r>
              <a:rPr lang="en-US" dirty="0" err="1"/>
              <a:t>href</a:t>
            </a:r>
            <a:r>
              <a:rPr lang="en-US" dirty="0"/>
              <a:t>],</a:t>
            </a:r>
            <a:r>
              <a:rPr lang="en-US" dirty="0" err="1"/>
              <a:t>img</a:t>
            </a:r>
            <a:r>
              <a:rPr lang="en-US" dirty="0"/>
              <a:t>[</a:t>
            </a:r>
            <a:r>
              <a:rPr lang="en-US" dirty="0" err="1"/>
              <a:t>src</a:t>
            </a:r>
            <a:r>
              <a:rPr lang="en-US" dirty="0"/>
              <a:t>] or </a:t>
            </a:r>
            <a:r>
              <a:rPr lang="en-US" dirty="0" err="1"/>
              <a:t>selenium.find_element_by_css_selector</a:t>
            </a:r>
            <a:r>
              <a:rPr lang="en-U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92833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9B8D-05CC-6B59-D48F-6543CA83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xpath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E3C82-B132-EC0D-7D71-2C0251BE4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77695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path language used to navigate elements in XML/HTML documents. </a:t>
            </a:r>
          </a:p>
          <a:p>
            <a:pPr>
              <a:lnSpc>
                <a:spcPct val="150000"/>
              </a:lnSpc>
            </a:pPr>
            <a:r>
              <a:rPr lang="en-US" dirty="0"/>
              <a:t>USED often in selenium and </a:t>
            </a:r>
            <a:r>
              <a:rPr lang="en-US" dirty="0" err="1"/>
              <a:t>lxml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8572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09B6-A32E-F1A7-E3B6-B98625EB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AJAx</a:t>
            </a:r>
            <a:r>
              <a:rPr lang="en-US" dirty="0"/>
              <a:t> (Asynchronous JavaScript and XML)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7B9B4-5CB4-5D73-C8DF-139C7975A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7735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When content loads after the page via JavaScript.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Reguler</a:t>
            </a:r>
            <a:r>
              <a:rPr lang="en-US" dirty="0"/>
              <a:t> </a:t>
            </a:r>
            <a:r>
              <a:rPr lang="en-US" dirty="0" err="1"/>
              <a:t>requests.get</a:t>
            </a:r>
            <a:r>
              <a:rPr lang="en-US" dirty="0"/>
              <a:t>() won’t work.</a:t>
            </a:r>
          </a:p>
          <a:p>
            <a:pPr>
              <a:lnSpc>
                <a:spcPct val="150000"/>
              </a:lnSpc>
            </a:pPr>
            <a:r>
              <a:rPr lang="en-US" dirty="0"/>
              <a:t>Use selenium or look for an API.</a:t>
            </a:r>
          </a:p>
        </p:txBody>
      </p:sp>
    </p:spTree>
    <p:extLst>
      <p:ext uri="{BB962C8B-B14F-4D97-AF65-F5344CB8AC3E}">
        <p14:creationId xmlns:p14="http://schemas.microsoft.com/office/powerpoint/2010/main" val="3057311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48A7-F441-38C9-3B05-77CE88BE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EECC-1EE4-8426-2A65-5BCF17B90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6375"/>
            <a:ext cx="9905998" cy="3124201"/>
          </a:xfrm>
        </p:spPr>
        <p:txBody>
          <a:bodyPr/>
          <a:lstStyle/>
          <a:p>
            <a:r>
              <a:rPr lang="en-US" dirty="0"/>
              <a:t>Cron: a command line utility</a:t>
            </a:r>
          </a:p>
          <a:p>
            <a:r>
              <a:rPr lang="en-US" dirty="0"/>
              <a:t>A time-based job scheduler in </a:t>
            </a:r>
            <a:r>
              <a:rPr lang="en-US" dirty="0" err="1"/>
              <a:t>unix</a:t>
            </a:r>
            <a:r>
              <a:rPr lang="en-US" dirty="0"/>
              <a:t>/</a:t>
            </a:r>
            <a:r>
              <a:rPr lang="en-US" dirty="0" err="1"/>
              <a:t>linux</a:t>
            </a:r>
            <a:r>
              <a:rPr lang="en-US" dirty="0"/>
              <a:t>.</a:t>
            </a:r>
          </a:p>
          <a:p>
            <a:r>
              <a:rPr lang="en-US" dirty="0"/>
              <a:t>Automate tasks like : “ Run this script every day at 9 AM”</a:t>
            </a:r>
          </a:p>
          <a:p>
            <a:r>
              <a:rPr lang="en-US" dirty="0"/>
              <a:t>Used to </a:t>
            </a:r>
            <a:r>
              <a:rPr lang="en-US" dirty="0" err="1"/>
              <a:t>schedulr</a:t>
            </a:r>
            <a:r>
              <a:rPr lang="en-US" dirty="0"/>
              <a:t> Scrapping Scripts to run periodically.</a:t>
            </a:r>
          </a:p>
          <a:p>
            <a:r>
              <a:rPr lang="en-US" dirty="0"/>
              <a:t>Important for </a:t>
            </a:r>
            <a:r>
              <a:rPr lang="en-US" dirty="0" err="1"/>
              <a:t>MLOps</a:t>
            </a:r>
            <a:r>
              <a:rPr lang="en-US" dirty="0"/>
              <a:t> and </a:t>
            </a:r>
            <a:r>
              <a:rPr lang="en-US" dirty="0" err="1"/>
              <a:t>DevOPs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 Run your scrapper every hour to collect real time data.</a:t>
            </a:r>
          </a:p>
        </p:txBody>
      </p:sp>
    </p:spTree>
    <p:extLst>
      <p:ext uri="{BB962C8B-B14F-4D97-AF65-F5344CB8AC3E}">
        <p14:creationId xmlns:p14="http://schemas.microsoft.com/office/powerpoint/2010/main" val="3596654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A520-9B38-8D22-1834-28FC37A4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Ddos</a:t>
            </a:r>
            <a:r>
              <a:rPr lang="en-US" dirty="0"/>
              <a:t>(Distributed denial of service attack)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B5ABD-F036-FE04-CC0F-C07B999D0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66899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An attack where many machines flood a server with requests.</a:t>
            </a:r>
          </a:p>
          <a:p>
            <a:pPr>
              <a:lnSpc>
                <a:spcPct val="150000"/>
              </a:lnSpc>
            </a:pPr>
            <a:r>
              <a:rPr lang="en-US" dirty="0"/>
              <a:t>Crashes or slow down the website.</a:t>
            </a:r>
          </a:p>
          <a:p>
            <a:pPr>
              <a:lnSpc>
                <a:spcPct val="150000"/>
              </a:lnSpc>
            </a:pPr>
            <a:r>
              <a:rPr lang="en-US" dirty="0"/>
              <a:t>Heavy, fast scrapping can unintentionally look like a DDoS attack.</a:t>
            </a:r>
          </a:p>
        </p:txBody>
      </p:sp>
    </p:spTree>
    <p:extLst>
      <p:ext uri="{BB962C8B-B14F-4D97-AF65-F5344CB8AC3E}">
        <p14:creationId xmlns:p14="http://schemas.microsoft.com/office/powerpoint/2010/main" val="2030455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4DEB-DC2C-2D2F-E531-53DBCDEC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97DCC-6B7A-7FD3-B471-49FA11FBF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19200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file found on most websites(example.com/robots.txt)</a:t>
            </a:r>
          </a:p>
          <a:p>
            <a:pPr>
              <a:lnSpc>
                <a:spcPct val="150000"/>
              </a:lnSpc>
            </a:pPr>
            <a:r>
              <a:rPr lang="en-US" dirty="0"/>
              <a:t>Tells bots/crawlers what they are allowed to scrape.</a:t>
            </a:r>
          </a:p>
          <a:p>
            <a:pPr>
              <a:lnSpc>
                <a:spcPct val="150000"/>
              </a:lnSpc>
            </a:pPr>
            <a:r>
              <a:rPr lang="en-US" dirty="0"/>
              <a:t>Ethical bots respect and check this file</a:t>
            </a:r>
          </a:p>
        </p:txBody>
      </p:sp>
    </p:spTree>
    <p:extLst>
      <p:ext uri="{BB962C8B-B14F-4D97-AF65-F5344CB8AC3E}">
        <p14:creationId xmlns:p14="http://schemas.microsoft.com/office/powerpoint/2010/main" val="2516950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E9E9-BCE0-B5E1-E7A0-B206BE7A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</a:t>
            </a:r>
            <a:r>
              <a:rPr lang="en-US" dirty="0" err="1"/>
              <a:t>longin</a:t>
            </a:r>
            <a:r>
              <a:rPr lang="en-US" dirty="0"/>
              <a:t> 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8F14-425B-F12A-617F-37EDB0F21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25167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Pages that require you to login before viewing</a:t>
            </a:r>
          </a:p>
          <a:p>
            <a:pPr>
              <a:lnSpc>
                <a:spcPct val="150000"/>
              </a:lnSpc>
            </a:pPr>
            <a:r>
              <a:rPr lang="en-US" dirty="0"/>
              <a:t>E.g., </a:t>
            </a:r>
            <a:r>
              <a:rPr lang="en-US" dirty="0" err="1"/>
              <a:t>Linkedin</a:t>
            </a:r>
            <a:r>
              <a:rPr lang="en-US" dirty="0"/>
              <a:t> profiles, Gmail, Facebook</a:t>
            </a:r>
          </a:p>
          <a:p>
            <a:pPr>
              <a:lnSpc>
                <a:spcPct val="150000"/>
              </a:lnSpc>
            </a:pPr>
            <a:r>
              <a:rPr lang="en-US" dirty="0"/>
              <a:t>Scrapping these often violates terms or data privacy laws</a:t>
            </a:r>
          </a:p>
        </p:txBody>
      </p:sp>
    </p:spTree>
    <p:extLst>
      <p:ext uri="{BB962C8B-B14F-4D97-AF65-F5344CB8AC3E}">
        <p14:creationId xmlns:p14="http://schemas.microsoft.com/office/powerpoint/2010/main" val="3688059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4AFE-E9AB-40C1-7320-41BCAC25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70F76-6FBD-F083-DADB-D505EBEE8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62100"/>
            <a:ext cx="9905998" cy="312420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To read or extract information from raw HTML or data.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 Parse a webpage to extract the article titles.</a:t>
            </a:r>
          </a:p>
          <a:p>
            <a:pPr>
              <a:lnSpc>
                <a:spcPct val="150000"/>
              </a:lnSpc>
            </a:pPr>
            <a:r>
              <a:rPr lang="en-US" dirty="0"/>
              <a:t>Soup = </a:t>
            </a:r>
            <a:r>
              <a:rPr lang="en-US" dirty="0" err="1"/>
              <a:t>BeautifulSoup</a:t>
            </a:r>
            <a:r>
              <a:rPr lang="en-US" dirty="0"/>
              <a:t>(html,”</a:t>
            </a:r>
            <a:r>
              <a:rPr lang="en-US" dirty="0" err="1"/>
              <a:t>html.parser</a:t>
            </a:r>
            <a:r>
              <a:rPr lang="en-US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415157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DAB6-9A53-C467-C228-E3D5B824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 (Regular expressions)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ED7CB-03AB-EE3E-417B-2D742CA60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33727"/>
            <a:ext cx="9905998" cy="3124201"/>
          </a:xfrm>
        </p:spPr>
        <p:txBody>
          <a:bodyPr/>
          <a:lstStyle/>
          <a:p>
            <a:r>
              <a:rPr lang="en-US" dirty="0"/>
              <a:t>A powerful pattern-matching tool for strings</a:t>
            </a:r>
          </a:p>
          <a:p>
            <a:r>
              <a:rPr lang="en-US" dirty="0"/>
              <a:t>Helps extract data like phone numbers, emails , dates from messy text.</a:t>
            </a:r>
          </a:p>
          <a:p>
            <a:r>
              <a:rPr lang="en-US" dirty="0"/>
              <a:t>Import re</a:t>
            </a:r>
          </a:p>
          <a:p>
            <a:r>
              <a:rPr lang="en-US" dirty="0" err="1"/>
              <a:t>Re.findall</a:t>
            </a:r>
            <a:r>
              <a:rPr lang="en-US" dirty="0"/>
              <a:t>(r”\d{4}-\d{2} -\d{2}”, text} #match dates like 2024-05-01</a:t>
            </a:r>
          </a:p>
        </p:txBody>
      </p:sp>
    </p:spTree>
    <p:extLst>
      <p:ext uri="{BB962C8B-B14F-4D97-AF65-F5344CB8AC3E}">
        <p14:creationId xmlns:p14="http://schemas.microsoft.com/office/powerpoint/2010/main" val="3896230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853E-E61F-08A7-4DD4-FAA70E6A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8194-4B08-9A8C-6C91-0B7E60E27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19200"/>
            <a:ext cx="9905998" cy="3124201"/>
          </a:xfrm>
        </p:spPr>
        <p:txBody>
          <a:bodyPr/>
          <a:lstStyle/>
          <a:p>
            <a:r>
              <a:rPr lang="en-US" dirty="0"/>
              <a:t>Targeted data extraction from specific websites</a:t>
            </a:r>
          </a:p>
          <a:p>
            <a:r>
              <a:rPr lang="en-US" dirty="0"/>
              <a:t>You choose what to collect (e.g., news headlines, prices)</a:t>
            </a:r>
          </a:p>
        </p:txBody>
      </p:sp>
    </p:spTree>
    <p:extLst>
      <p:ext uri="{BB962C8B-B14F-4D97-AF65-F5344CB8AC3E}">
        <p14:creationId xmlns:p14="http://schemas.microsoft.com/office/powerpoint/2010/main" val="1134508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DB76-9E42-F2C2-B783-6D26788A4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Crawling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EC24F-6F34-C836-D8B8-93954E5B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62100"/>
            <a:ext cx="9905998" cy="3124201"/>
          </a:xfrm>
        </p:spPr>
        <p:txBody>
          <a:bodyPr/>
          <a:lstStyle/>
          <a:p>
            <a:r>
              <a:rPr lang="en-US" dirty="0"/>
              <a:t>Automated browsing through links across a website</a:t>
            </a:r>
          </a:p>
          <a:p>
            <a:r>
              <a:rPr lang="en-US" dirty="0"/>
              <a:t>Crawlers go from page to page, collecting links or data</a:t>
            </a:r>
          </a:p>
          <a:p>
            <a:endParaRPr lang="en-US" dirty="0"/>
          </a:p>
          <a:p>
            <a:r>
              <a:rPr lang="en-US" dirty="0"/>
              <a:t>Crawling is broader, Scrapping is more focused</a:t>
            </a:r>
          </a:p>
        </p:txBody>
      </p:sp>
    </p:spTree>
    <p:extLst>
      <p:ext uri="{BB962C8B-B14F-4D97-AF65-F5344CB8AC3E}">
        <p14:creationId xmlns:p14="http://schemas.microsoft.com/office/powerpoint/2010/main" val="3810832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7DF3-E871-675A-E38A-7B1F18B7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62E69-5544-57C6-A6A6-B79634B9F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50263"/>
            <a:ext cx="9905998" cy="3124201"/>
          </a:xfrm>
        </p:spPr>
        <p:txBody>
          <a:bodyPr/>
          <a:lstStyle/>
          <a:p>
            <a:r>
              <a:rPr lang="en-US" dirty="0"/>
              <a:t>Web scrapping helps you collect real-</a:t>
            </a:r>
            <a:r>
              <a:rPr lang="en-US" dirty="0" err="1"/>
              <a:t>wprld</a:t>
            </a:r>
            <a:r>
              <a:rPr lang="en-US" dirty="0"/>
              <a:t> data</a:t>
            </a:r>
          </a:p>
          <a:p>
            <a:r>
              <a:rPr lang="en-US" dirty="0"/>
              <a:t>Python  + Requests + </a:t>
            </a:r>
            <a:r>
              <a:rPr lang="en-US" dirty="0" err="1"/>
              <a:t>BeautifuleSoup</a:t>
            </a:r>
            <a:r>
              <a:rPr lang="en-US" dirty="0"/>
              <a:t> = Powerful Combo</a:t>
            </a:r>
          </a:p>
          <a:p>
            <a:r>
              <a:rPr lang="en-US" dirty="0"/>
              <a:t>Always scrape </a:t>
            </a:r>
            <a:r>
              <a:rPr lang="en-US" dirty="0" err="1"/>
              <a:t>responsiblu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6817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FDC4C-4FA7-8993-75C6-3F656870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way to 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3043-790B-C5BE-A390-CA892B77D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19200"/>
            <a:ext cx="9905998" cy="3124201"/>
          </a:xfrm>
        </p:spPr>
        <p:txBody>
          <a:bodyPr/>
          <a:lstStyle/>
          <a:p>
            <a:r>
              <a:rPr lang="en-US" dirty="0"/>
              <a:t>Create a Python Environment</a:t>
            </a:r>
          </a:p>
        </p:txBody>
      </p:sp>
    </p:spTree>
    <p:extLst>
      <p:ext uri="{BB962C8B-B14F-4D97-AF65-F5344CB8AC3E}">
        <p14:creationId xmlns:p14="http://schemas.microsoft.com/office/powerpoint/2010/main" val="308912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208</TotalTime>
  <Words>1197</Words>
  <Application>Microsoft Office PowerPoint</Application>
  <PresentationFormat>Widescreen</PresentationFormat>
  <Paragraphs>145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Arial Unicode MS</vt:lpstr>
      <vt:lpstr>Century Gothic</vt:lpstr>
      <vt:lpstr>Roboto</vt:lpstr>
      <vt:lpstr>Mesh</vt:lpstr>
      <vt:lpstr>Mining the Web:</vt:lpstr>
      <vt:lpstr>What is Web Scraping?</vt:lpstr>
      <vt:lpstr>Is Web Scraping Legal?</vt:lpstr>
      <vt:lpstr>Python tools and libraries for data science</vt:lpstr>
      <vt:lpstr>Basic Web Scraping Flow</vt:lpstr>
      <vt:lpstr>What You Can Scrape?</vt:lpstr>
      <vt:lpstr>Challenges in Web Scraping</vt:lpstr>
      <vt:lpstr>Best Practices</vt:lpstr>
      <vt:lpstr>🎓 Mini Project Idea</vt:lpstr>
      <vt:lpstr>📘 Web Scraping Ethics: What’s Allowed?</vt:lpstr>
      <vt:lpstr>👑 What You Should Avoid</vt:lpstr>
      <vt:lpstr>Web Scraping Key Terms</vt:lpstr>
      <vt:lpstr>Web Scraping Key Terms</vt:lpstr>
      <vt:lpstr>Api(application programming interface)</vt:lpstr>
      <vt:lpstr>Pagination</vt:lpstr>
      <vt:lpstr>Captcha</vt:lpstr>
      <vt:lpstr>session</vt:lpstr>
      <vt:lpstr>Headless browser</vt:lpstr>
      <vt:lpstr>Proxies</vt:lpstr>
      <vt:lpstr>HTTP Status CODE</vt:lpstr>
      <vt:lpstr>CSS Selectors</vt:lpstr>
      <vt:lpstr> xpath</vt:lpstr>
      <vt:lpstr>AJAx (Asynchronous JavaScript and XML)</vt:lpstr>
      <vt:lpstr>CRON</vt:lpstr>
      <vt:lpstr>Ddos(Distributed denial of service attack)</vt:lpstr>
      <vt:lpstr>Robots.txt</vt:lpstr>
      <vt:lpstr>Behind longin walls</vt:lpstr>
      <vt:lpstr>Parse</vt:lpstr>
      <vt:lpstr>Regex (Regular expressions)</vt:lpstr>
      <vt:lpstr>Scrapping</vt:lpstr>
      <vt:lpstr>Crawling</vt:lpstr>
      <vt:lpstr>summary</vt:lpstr>
      <vt:lpstr>Best way to 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Sumair Aziz</dc:creator>
  <cp:lastModifiedBy>Sumair Aziz</cp:lastModifiedBy>
  <cp:revision>7</cp:revision>
  <dcterms:created xsi:type="dcterms:W3CDTF">2025-09-27T13:39:59Z</dcterms:created>
  <dcterms:modified xsi:type="dcterms:W3CDTF">2025-09-27T17:41:10Z</dcterms:modified>
</cp:coreProperties>
</file>